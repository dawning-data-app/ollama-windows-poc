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b79cd4267345e7" /><Relationship Type="http://schemas.openxmlformats.org/officeDocument/2006/relationships/extended-properties" Target="/docProps/app.xml" Id="Rf142a9269fba4556" /><Relationship Type="http://schemas.openxmlformats.org/officeDocument/2006/relationships/officeDocument" Target="/ppt/presentation.xml" Id="Rbb63d6e0ff024e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10fb1adbd3468a"/>
  </p:sldMasterIdLst>
  <p:notesMasterIdLst>
    <p:notesMasterId xmlns:r="http://schemas.openxmlformats.org/officeDocument/2006/relationships" r:id="R59106d26b52346d6"/>
  </p:notesMasterIdLst>
  <p:sldIdLst>
    <p:sldId xmlns:r="http://schemas.openxmlformats.org/officeDocument/2006/relationships" id="256" r:id="R9ffecc3bc2e94fd5"/>
    <p:sldId xmlns:r="http://schemas.openxmlformats.org/officeDocument/2006/relationships" id="257" r:id="R4d39268054934d5e"/>
    <p:sldId xmlns:r="http://schemas.openxmlformats.org/officeDocument/2006/relationships" id="258" r:id="R0acb919cd6c847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53b6979260482d" /><Relationship Type="http://schemas.openxmlformats.org/officeDocument/2006/relationships/slideMaster" Target="/ppt/slideMasters/slideMaster1.xml" Id="R5710fb1adbd3468a" /><Relationship Type="http://schemas.openxmlformats.org/officeDocument/2006/relationships/notesMaster" Target="/ppt/notesMasters/notesMaster1.xml" Id="R59106d26b52346d6" /><Relationship Type="http://schemas.openxmlformats.org/officeDocument/2006/relationships/presProps" Target="/ppt/presProps.xml" Id="Rffa8a7dbfe484932" /><Relationship Type="http://schemas.openxmlformats.org/officeDocument/2006/relationships/tableStyles" Target="/ppt/tableStyles.xml" Id="Ra39a2a1121b24fbb" /><Relationship Type="http://schemas.openxmlformats.org/officeDocument/2006/relationships/slide" Target="/ppt/slides/slide1.xml" Id="R9ffecc3bc2e94fd5" /><Relationship Type="http://schemas.openxmlformats.org/officeDocument/2006/relationships/slide" Target="/ppt/slides/slide2.xml" Id="R4d39268054934d5e" /><Relationship Type="http://schemas.openxmlformats.org/officeDocument/2006/relationships/slide" Target="/ppt/slides/slide3.xml" Id="R0acb919cd6c847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0d321d88db40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39db5a41b8455a" /><Relationship Type="http://schemas.openxmlformats.org/officeDocument/2006/relationships/notesMaster" Target="/ppt/notesMasters/notesMaster1.xml" Id="R3a5c9377b28e4d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2fb04139f74ad9" /><Relationship Type="http://schemas.openxmlformats.org/officeDocument/2006/relationships/notesMaster" Target="/ppt/notesMasters/notesMaster1.xml" Id="R37bdba74b01b4e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0e2c87c0cb4f79" /><Relationship Type="http://schemas.openxmlformats.org/officeDocument/2006/relationships/notesMaster" Target="/ppt/notesMasters/notesMaster1.xml" Id="R8dfbc1637fb84a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展示重點：Mac 是另一台電腦，Windows 提供 Ollama API。client.py 先呼叫 GET /api/tags，再呼叫 POST /api/generate。跨機成功紀錄見 docs/verification.md，2026-10-08 13:35 CST。這一頁是流程圖，不代表當前 Windows 原生 All human check 已完成。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Mac 本次重跑：2026-10-08 14:39 CST，python3 -B client.py --timeout 120，GENERATED HTTP 200，非空回覆，exit code 0。圖像由本次真實 CLI 輸出紀錄以瀏覽器渲染並截圖，回覆文字只顯示節錄；不是 macOS Terminal 視窗的直接截圖。未追蹤 .env 指向非 loopback 端點；不要把未遮蔽的 .env 或私人 IP 放入投影片。歷史跨機成功紀錄見 docs/verification.md，2026-10-08 13:35 CST。Windows 截圖尚未取得。Windows Agent 接續時，請從 Windows 原生 PowerShell 取得 hostname、ollama list 與 Invoke-RestMethod http://127.0.0.1:11434/api/tags 的真實畫面，並核對 Mac .env 指向該 Windows 私網端點。先在圖片副本中永久遮蔽 IP、憑證與任何敏感資訊，只把遮蔽副本插入簡報。以相同 &lt;WINDOWS_IP&gt; 標籤對應兩端；不要用 PowerPoint 圖形蓋住原圖。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展示前確認：Windows Ollama 在私人網路可供 Mac 存取；模型 tinyllama:latest 存在；Mac 與 Windows 在預期網路上；Mac 未追蹤 .env 仍指向正確 Windows 私人端點。現場執行 python3 -B client.py --timeout 120。只在輸出 GENERATED HTTP 200、非空回覆且 exit code 0 時宣稱本次成功。TRANSPORT_ERROR、INVALID_RESPONSE 或非零 exit code 不算成功。若現場失敗，展示已取得且有日期的真實成功截圖，明確區分歷史成功與本次失敗。若截圖仍未補齊，這份簡報不能作為客戶用的完整證據。Windows native .\scripts\windows-local.ps1 -Action All human check 仍待完成，與跨機展示分開。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d9f8909ee042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99a510a8e643ed" /><Relationship Type="http://schemas.openxmlformats.org/officeDocument/2006/relationships/slideLayout" Target="/ppt/slideLayouts/slideLayout1.xml" Id="R91de172f041645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de172f041645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cf20bf5314e6d" /><Relationship Type="http://schemas.openxmlformats.org/officeDocument/2006/relationships/notesSlide" Target="/ppt/notesSlides/notesSlide1.xml" Id="Reb464ee72bf54a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3be740c0d4e40" /><Relationship Type="http://schemas.openxmlformats.org/officeDocument/2006/relationships/image" Target="/ppt/media/image.png" Id="Rd8f6138c55284656" /><Relationship Type="http://schemas.openxmlformats.org/officeDocument/2006/relationships/image" Target="/ppt/media/image2.png" Id="R7435aba8190b4b83" /><Relationship Type="http://schemas.openxmlformats.org/officeDocument/2006/relationships/notesSlide" Target="/ppt/notesSlides/notesSlide2.xml" Id="R4dcd8bc2bfc74d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97067a036473e" /><Relationship Type="http://schemas.openxmlformats.org/officeDocument/2006/relationships/notesSlide" Target="/ppt/notesSlides/notesSlide3.xml" Id="Rcc7f6e327e3b43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EB4F3B-6FA3-4CD9-9374-8E125978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73047"/>
                </a:solidFill>
                <a:latin typeface="STHeiti"/>
                <a:ea typeface="STHeiti"/>
                <a:cs typeface="STHeiti"/>
              </a:defRPr>
            </a:pPr>
            <a:r>
              <a:rPr sz="3150" b="1">
                <a:solidFill>
                  <a:srgbClr val="173047"/>
                </a:solidFill>
                <a:latin typeface="STHeiti"/>
                <a:ea typeface="STHeiti"/>
                <a:cs typeface="STHeiti"/>
              </a:rPr>
              <a:t>Mac 呼叫 Windows Ollama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B3324-B306-4EC1-8B71-D5A8E029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DD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55BFA-3043-4BFA-BE2D-3A17D2C0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0482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576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526576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CE8F6-CE06-4329-B063-881C8D3D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576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526576"/>
                </a:solidFill>
                <a:latin typeface="STHeiti"/>
                <a:ea typeface="STHeiti"/>
                <a:cs typeface="STHeiti"/>
              </a:rPr>
              <a:t>客戶詢問時，從另一台電腦送出請求並展示回覆。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F220F-AC61-4206-AD94-9F28CF9A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34290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2"/>
          </a:solidFill>
          <a:ln xmlns:a="http://schemas.openxmlformats.org/drawingml/2006/main" w="19050">
            <a:solidFill>
              <a:srgbClr val="007F8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FFCD1-C7E6-4FE4-83B6-A8A49E46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76500"/>
            <a:ext cx="34290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F8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E7C7D-12C5-4EB7-9B08-CA4A8E1C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41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3047"/>
                </a:solidFill>
                <a:latin typeface="STHeiti"/>
                <a:ea typeface="STHeiti"/>
                <a:cs typeface="STHeiti"/>
              </a:defRPr>
            </a:pPr>
            <a:r>
              <a:rPr sz="2550" b="1">
                <a:solidFill>
                  <a:srgbClr val="173047"/>
                </a:solidFill>
                <a:latin typeface="STHeiti"/>
                <a:ea typeface="STHeiti"/>
                <a:cs typeface="STHeiti"/>
              </a:rPr>
              <a:t>Mac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A796C3-9A5A-4A50-AD06-3B696A20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051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3047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73047"/>
                </a:solidFill>
                <a:latin typeface="Menlo"/>
                <a:ea typeface="Menlo"/>
                <a:cs typeface="Menlo"/>
              </a:rPr>
              <a:t>Python client.py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62FF4-7C61-4225-9D69-289B3134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385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576"/>
                </a:solidFill>
                <a:latin typeface="STHeiti"/>
                <a:ea typeface="STHeiti"/>
                <a:cs typeface="STHeiti"/>
              </a:defRPr>
            </a:pPr>
            <a:r>
              <a:rPr sz="1800" b="0">
                <a:solidFill>
                  <a:srgbClr val="526576"/>
                </a:solidFill>
                <a:latin typeface="STHeiti"/>
                <a:ea typeface="STHeiti"/>
                <a:cs typeface="STHeiti"/>
              </a:rPr>
              <a:t>發出 API 請求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AF9EC-7B6B-4B30-A991-91250426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241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3047"/>
                </a:solidFill>
                <a:latin typeface="STHeiti"/>
                <a:ea typeface="STHeiti"/>
                <a:cs typeface="STHeiti"/>
              </a:defRPr>
            </a:pPr>
            <a:r>
              <a:rPr sz="2550" b="1">
                <a:solidFill>
                  <a:srgbClr val="173047"/>
                </a:solidFill>
                <a:latin typeface="STHeiti"/>
                <a:ea typeface="STHeiti"/>
                <a:cs typeface="STHeiti"/>
              </a:rPr>
              <a:t>Windows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9B832-1517-44B8-8700-FBE5652A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051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3047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173047"/>
                </a:solidFill>
                <a:latin typeface="STHeiti"/>
                <a:ea typeface="STHeiti"/>
                <a:cs typeface="STHeiti"/>
              </a:rPr>
              <a:t>Ollama 服務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C14394-350B-4A8D-AC20-DB37DBF9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385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576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526576"/>
                </a:solidFill>
                <a:latin typeface="Menlo"/>
                <a:ea typeface="Menlo"/>
                <a:cs typeface="Menlo"/>
              </a:rPr>
              <a:t>tinyllama:latest</a:t>
            </a:r>
          </a:p>
        </p:txBody>
      </p: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E413DD-A0D9-4E6D-83FB-7113D1E63C9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343400" y="3548063"/>
            <a:ext cx="35052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7F86"/>
            </a:solidFill>
            <a:prstDash val="solid"/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FB2616-E2A8-42EC-B981-71F1F9FA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2890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07F86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007F86"/>
                </a:solidFill>
                <a:latin typeface="Menlo"/>
                <a:ea typeface="Menlo"/>
                <a:cs typeface="Menlo"/>
              </a:rPr>
              <a:t>GET /api/tags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DE533E-9DA3-4887-9A39-A360CEAE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07F86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007F86"/>
                </a:solidFill>
                <a:latin typeface="Menlo"/>
                <a:ea typeface="Menlo"/>
                <a:cs typeface="Menlo"/>
              </a:rPr>
              <a:t>POST /api/generate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104CE7-D9E8-4E3E-BA31-142D58C7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286375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73047"/>
                </a:solidFill>
                <a:latin typeface="STHeiti"/>
                <a:ea typeface="STHeiti"/>
                <a:cs typeface="STHeiti"/>
              </a:defRPr>
            </a:pPr>
            <a:r>
              <a:rPr sz="2025" b="0">
                <a:solidFill>
                  <a:srgbClr val="173047"/>
                </a:solidFill>
                <a:latin typeface="STHeiti"/>
                <a:ea typeface="STHeiti"/>
                <a:cs typeface="STHeiti"/>
              </a:rPr>
              <a:t>Windows 回傳模型生成文字；Mac 終端顯示結果。</a:t>
            </a:r>
          </a:p>
        </p:txBody>
      </p:sp>
    </p:spTree>
    <p:extLst>
      <p:ext uri="{BB962C8B-B14F-4D97-AF65-F5344CB8AC3E}">
        <p14:creationId xmlns:p14="http://schemas.microsoft.com/office/powerpoint/2010/main" val="11215766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8D7497-D78A-4AC6-AD00-6B7E70A1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73047"/>
                </a:solidFill>
                <a:latin typeface="STHeiti"/>
                <a:ea typeface="STHeiti"/>
                <a:cs typeface="STHeiti"/>
              </a:defRPr>
            </a:pPr>
            <a:r>
              <a:rPr sz="3150" b="1">
                <a:solidFill>
                  <a:srgbClr val="173047"/>
                </a:solidFill>
                <a:latin typeface="STHeiti"/>
                <a:ea typeface="STHeiti"/>
                <a:cs typeface="STHeiti"/>
              </a:rPr>
              <a:t>跨機實測證據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23E2FC-54F6-4247-B04C-CA1340F8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DD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1AFBD-600F-47D2-AB28-7D216F34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0482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576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526576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413B3-224E-4658-A107-93D96402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73047"/>
                </a:solidFill>
                <a:latin typeface="STHeiti"/>
                <a:ea typeface="STHeiti"/>
                <a:cs typeface="STHeiti"/>
              </a:defRPr>
            </a:pPr>
            <a:r>
              <a:rPr sz="2100" b="1">
                <a:solidFill>
                  <a:srgbClr val="173047"/>
                </a:solidFill>
                <a:latin typeface="STHeiti"/>
                <a:ea typeface="STHeiti"/>
                <a:cs typeface="STHeiti"/>
              </a:rPr>
              <a:t>Mac → Windows 跨機實跑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9DE7C-E766-45A7-92C2-EB43B2D5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5049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73047"/>
                </a:solidFill>
                <a:latin typeface="STHeiti"/>
                <a:ea typeface="STHeiti"/>
                <a:cs typeface="STHeiti"/>
              </a:defRPr>
            </a:pPr>
            <a:r>
              <a:rPr sz="2100" b="1">
                <a:solidFill>
                  <a:srgbClr val="173047"/>
                </a:solidFill>
                <a:latin typeface="STHeiti"/>
                <a:ea typeface="STHeiti"/>
                <a:cs typeface="STHeiti"/>
              </a:rPr>
              <a:t>Windows 本機實跑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8E16C1-108A-44D4-B9A8-9FF17B9371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f6138c55284656"/>
          <a:stretch xmlns:a="http://schemas.openxmlformats.org/drawingml/2006/main"/>
        </p:blipFill>
        <p:spPr>
          <a:xfrm xmlns:a="http://schemas.openxmlformats.org/drawingml/2006/main">
            <a:off x="666750" y="2040149"/>
            <a:ext cx="5219700" cy="3015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E0FB39-A337-4223-A60F-E0E9C1B7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519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576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526576"/>
                </a:solidFill>
                <a:latin typeface="STHeiti"/>
                <a:ea typeface="STHeiti"/>
                <a:cs typeface="STHeiti"/>
              </a:rPr>
              <a:t>2026-10-08 14:39 CST｜CLI 輸出呈現，回覆節錄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521A11-F56E-46B4-AFEB-C2266728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229225"/>
            <a:ext cx="4924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576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526576"/>
                </a:solidFill>
                <a:latin typeface="STHeiti"/>
                <a:ea typeface="STHeiti"/>
                <a:cs typeface="STHeiti"/>
              </a:rPr>
              <a:t>2026-10-08 15:04 CST｜PowerShell 輸出呈現</a:t>
            </a:r>
          </a:p>
          <a:p xmlns:a="http://schemas.openxmlformats.org/drawingml/2006/main">
            <a:pPr>
              <a:buNone/>
              <a:defRPr sz="1350" b="0">
                <a:solidFill>
                  <a:srgbClr val="526576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526576"/>
                </a:solidFill>
                <a:latin typeface="STHeiti"/>
                <a:ea typeface="STHeiti"/>
                <a:cs typeface="STHeiti"/>
              </a:rPr>
              <a:t>使用者確認：兩端對應同一 Windows 主機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F7FD1-05B1-48E6-96B5-269F8C75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8483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D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1DAD6E-2ACD-48B6-89B5-51EDA60E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65F13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A65F13"/>
                </a:solidFill>
                <a:latin typeface="STHeiti"/>
                <a:ea typeface="STHeiti"/>
                <a:cs typeface="STHeiti"/>
              </a:rPr>
              <a:t>Mac 直接呼叫 Windows Ollama，已完成跨機實際操作；兩圖非視窗直拍。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9CBD64-0E10-4085-939B-3F55759C0C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35aba8190b4b83"/>
          <a:stretch xmlns:a="http://schemas.openxmlformats.org/drawingml/2006/main"/>
        </p:blipFill>
        <p:spPr>
          <a:xfrm xmlns:a="http://schemas.openxmlformats.org/drawingml/2006/main">
            <a:off x="6572250" y="2067878"/>
            <a:ext cx="4933950" cy="296037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4448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E1418D-CBFF-44EC-B8DF-B08659B1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73047"/>
                </a:solidFill>
                <a:latin typeface="STHeiti"/>
                <a:ea typeface="STHeiti"/>
                <a:cs typeface="STHeiti"/>
              </a:defRPr>
            </a:pPr>
            <a:r>
              <a:rPr sz="3150" b="1">
                <a:solidFill>
                  <a:srgbClr val="173047"/>
                </a:solidFill>
                <a:latin typeface="STHeiti"/>
                <a:ea typeface="STHeiti"/>
                <a:cs typeface="STHeiti"/>
              </a:rPr>
              <a:t>現場展示步驟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DCBC5D-2F08-4293-9661-C22B836C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DD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EA2BF-304D-4F79-A458-ADA5BB2F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0482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576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526576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251D8-EE8D-4394-898B-9714E53A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6"/>
                </a:solidFill>
                <a:latin typeface="Menlo"/>
                <a:ea typeface="Menlo"/>
                <a:cs typeface="Menlo"/>
              </a:defRPr>
            </a:pPr>
            <a:r>
              <a:rPr sz="2400" b="1">
                <a:solidFill>
                  <a:srgbClr val="007F86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EF7BF-6F29-46F3-92F3-94D431F9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145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73047"/>
                </a:solidFill>
                <a:latin typeface="STHeiti"/>
                <a:ea typeface="STHeiti"/>
                <a:cs typeface="STHeiti"/>
              </a:defRPr>
            </a:pPr>
            <a:r>
              <a:rPr sz="2250" b="1">
                <a:solidFill>
                  <a:srgbClr val="173047"/>
                </a:solidFill>
                <a:latin typeface="STHeiti"/>
                <a:ea typeface="STHeiti"/>
                <a:cs typeface="STHeiti"/>
              </a:rPr>
              <a:t>確認 Windows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404AF7-B98E-426C-AF29-E2EC6439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4307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3047"/>
                </a:solidFill>
                <a:latin typeface="STHeiti"/>
                <a:ea typeface="STHeiti"/>
                <a:cs typeface="STHeiti"/>
              </a:defRPr>
            </a:pPr>
            <a:r>
              <a:rPr sz="1800" b="0">
                <a:solidFill>
                  <a:srgbClr val="173047"/>
                </a:solidFill>
                <a:latin typeface="STHeiti"/>
                <a:ea typeface="STHeiti"/>
                <a:cs typeface="STHeiti"/>
              </a:rPr>
              <a:t>Ollama 服務可用，模型清單包含 tinyllama:latest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D24BA-EEF2-4B8A-8C96-38B6E3AF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7475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D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89B310-5D3B-4B87-B144-1727349D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6"/>
                </a:solidFill>
                <a:latin typeface="Menlo"/>
                <a:ea typeface="Menlo"/>
                <a:cs typeface="Menlo"/>
              </a:defRPr>
            </a:pPr>
            <a:r>
              <a:rPr sz="2400" b="1">
                <a:solidFill>
                  <a:srgbClr val="007F86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A14C32-E770-44AA-8A92-71F30632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146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73047"/>
                </a:solidFill>
                <a:latin typeface="STHeiti"/>
                <a:ea typeface="STHeiti"/>
                <a:cs typeface="STHeiti"/>
              </a:defRPr>
            </a:pPr>
            <a:r>
              <a:rPr sz="2250" b="1">
                <a:solidFill>
                  <a:srgbClr val="173047"/>
                </a:solidFill>
                <a:latin typeface="STHeiti"/>
                <a:ea typeface="STHeiti"/>
                <a:cs typeface="STHeiti"/>
              </a:rPr>
              <a:t>從 Mac 呼叫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812F4D-48EF-4388-BF57-B525C939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432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3047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73047"/>
                </a:solidFill>
                <a:latin typeface="Menlo"/>
                <a:ea typeface="Menlo"/>
                <a:cs typeface="Menlo"/>
              </a:rPr>
              <a:t>python3 -B client.py --timeout 120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BC3DDD-62E9-42B0-830A-E0669CF8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D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4DBB8F-5368-42EF-889E-B97D3239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6"/>
                </a:solidFill>
                <a:latin typeface="Menlo"/>
                <a:ea typeface="Menlo"/>
                <a:cs typeface="Menlo"/>
              </a:defRPr>
            </a:pPr>
            <a:r>
              <a:rPr sz="2400" b="1">
                <a:solidFill>
                  <a:srgbClr val="007F86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A84C28-D09D-4C77-A60B-85BA874A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148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73047"/>
                </a:solidFill>
                <a:latin typeface="STHeiti"/>
                <a:ea typeface="STHeiti"/>
                <a:cs typeface="STHeiti"/>
              </a:defRPr>
            </a:pPr>
            <a:r>
              <a:rPr sz="2250" b="1">
                <a:solidFill>
                  <a:srgbClr val="173047"/>
                </a:solidFill>
                <a:latin typeface="STHeiti"/>
                <a:ea typeface="STHeiti"/>
                <a:cs typeface="STHeiti"/>
              </a:rPr>
              <a:t>判讀結果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FAFDF4-C114-4047-AF48-15D8C6CC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4337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3047"/>
                </a:solidFill>
                <a:latin typeface="STHeiti"/>
                <a:ea typeface="STHeiti"/>
                <a:cs typeface="STHeiti"/>
              </a:defRPr>
            </a:pPr>
            <a:r>
              <a:rPr sz="1800" b="0">
                <a:solidFill>
                  <a:srgbClr val="173047"/>
                </a:solidFill>
                <a:latin typeface="STHeiti"/>
                <a:ea typeface="STHeiti"/>
                <a:cs typeface="STHeiti"/>
              </a:rPr>
              <a:t>GENERATED HTTP 200、非空回覆、exit code 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E0F9FF-44BE-4AF4-AFC7-1988D4E7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8394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0EF7E5-CECE-4042-B132-8E28992C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6007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A65F13"/>
                </a:solidFill>
                <a:latin typeface="STHeiti"/>
                <a:ea typeface="STHeiti"/>
                <a:cs typeface="STHeiti"/>
              </a:defRPr>
            </a:pPr>
            <a:r>
              <a:rPr sz="1725" b="1">
                <a:solidFill>
                  <a:srgbClr val="A65F13"/>
                </a:solidFill>
                <a:latin typeface="STHeiti"/>
                <a:ea typeface="STHeiti"/>
                <a:cs typeface="STHeiti"/>
              </a:rPr>
              <a:t>若現場失敗：展示有日期的成功證據，並說明本次未成功。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EE7467-5412-4E95-9628-897FB715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198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576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526576"/>
                </a:solidFill>
                <a:latin typeface="STHeiti"/>
                <a:ea typeface="STHeiti"/>
                <a:cs typeface="STHeiti"/>
              </a:rPr>
              <a:t>已有 Mac → Windows 跨機實跑證據；客戶展示前建議再排練一次。</a:t>
            </a:r>
          </a:p>
        </p:txBody>
      </p:sp>
    </p:spTree>
    <p:extLst>
      <p:ext uri="{BB962C8B-B14F-4D97-AF65-F5344CB8AC3E}">
        <p14:creationId xmlns:p14="http://schemas.microsoft.com/office/powerpoint/2010/main" val="1647086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2026-10-08T07:17:13.4070000Z</dcterms:created>
  <dcterms:modified xsi:type="dcterms:W3CDTF">2026-10-08T07:17:13.4070000Z</dcterms:modified>
</coreProperties>
</file>